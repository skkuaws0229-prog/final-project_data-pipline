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7955279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rial"/>
              </a:rPr>
              <a:t>Precision Drug Repurposing Platform - AWS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20624"/>
            <a:ext cx="5669280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현재 로컬/Docker 검증 구조 + AWS 배포/자동화 확장 구조</a:t>
            </a:r>
          </a:p>
        </p:txBody>
      </p:sp>
      <p:pic>
        <p:nvPicPr>
          <p:cNvPr id="4" name="Picture 3" descr="AWS-Cloud-logo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55448"/>
            <a:ext cx="27432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12680" y="420624"/>
            <a:ext cx="1508760" cy="16459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650" b="0">
                <a:solidFill>
                  <a:srgbClr val="4B5563"/>
                </a:solidFill>
                <a:latin typeface="Arial"/>
              </a:rPr>
              <a:t>AWS icon set 2026-04-30</a:t>
            </a:r>
          </a:p>
        </p:txBody>
      </p:sp>
      <p:sp>
        <p:nvSpPr>
          <p:cNvPr id="6" name="Oval 5"/>
          <p:cNvSpPr/>
          <p:nvPr/>
        </p:nvSpPr>
        <p:spPr>
          <a:xfrm>
            <a:off x="384048" y="1325880"/>
            <a:ext cx="201168" cy="201168"/>
          </a:xfrm>
          <a:prstGeom prst="ellipse">
            <a:avLst/>
          </a:prstGeom>
          <a:solidFill>
            <a:srgbClr val="FFFFFF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256032" y="1508760"/>
            <a:ext cx="475488" cy="365760"/>
          </a:xfrm>
          <a:prstGeom prst="arc">
            <a:avLst/>
          </a:prstGeom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801368"/>
            <a:ext cx="658368" cy="2377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Researcher</a:t>
            </a:r>
          </a:p>
        </p:txBody>
      </p:sp>
      <p:sp>
        <p:nvSpPr>
          <p:cNvPr id="9" name="Oval 8"/>
          <p:cNvSpPr/>
          <p:nvPr/>
        </p:nvSpPr>
        <p:spPr>
          <a:xfrm>
            <a:off x="347472" y="4526280"/>
            <a:ext cx="201168" cy="201168"/>
          </a:xfrm>
          <a:prstGeom prst="ellipse">
            <a:avLst/>
          </a:prstGeom>
          <a:solidFill>
            <a:srgbClr val="FFFFFF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219456" y="4709160"/>
            <a:ext cx="475488" cy="365760"/>
          </a:xfrm>
          <a:prstGeom prst="arc">
            <a:avLst/>
          </a:prstGeom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" y="5001768"/>
            <a:ext cx="658368" cy="237744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20" b="0">
                <a:solidFill>
                  <a:srgbClr val="111827"/>
                </a:solidFill>
                <a:latin typeface="Arial"/>
              </a:rPr>
              <a:t>Frontend 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777240"/>
            <a:ext cx="1508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822960"/>
            <a:ext cx="128930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Frontend / Team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1417320"/>
            <a:ext cx="1051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1490472"/>
            <a:ext cx="941831" cy="43891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React Vite
5174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2450592"/>
            <a:ext cx="1051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6" y="2523744"/>
            <a:ext cx="941831" cy="5852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Browser QA
Candidates / KG / 3D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" y="3675887"/>
            <a:ext cx="1051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6" y="3749039"/>
            <a:ext cx="941831" cy="5852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Chatbot UI
fallback + team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97480" y="777240"/>
            <a:ext cx="4800600" cy="5394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7208" y="822960"/>
            <a:ext cx="458114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Drug Service AWS Account / EC2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1143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rch_Amazon-EC2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280160"/>
            <a:ext cx="301752" cy="3017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74136" y="1234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Amazon EC2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1581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Docker Compose host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1143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rch_Amazon-API-Gateway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280160"/>
            <a:ext cx="301752" cy="3017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28616" y="1234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1581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REST API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224028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Arch_Amazon-RDS_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2377440"/>
            <a:ext cx="301752" cy="30175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74136" y="233172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267919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candidate / final / structures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224028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rch_Amazon-EC2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2377440"/>
            <a:ext cx="301752" cy="3017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928616" y="233172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Neo4j 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267919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disease-drug-target graph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224028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rch_Amazon-OpenSearch-Service_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2377440"/>
            <a:ext cx="301752" cy="30175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83096" y="233172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OpenSearch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267919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search / RAG 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3429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Arch_Amazon-Simple-Storage-Service_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952" y="3566160"/>
            <a:ext cx="301752" cy="30175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374136" y="3520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AlphaFold Proxy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3867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CIF file endpoint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26280" y="3429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_Amazon-API-Gateway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3566160"/>
            <a:ext cx="301752" cy="30175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28616" y="3520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KG UI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3867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ui-basic / summary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80760" y="3429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rch_Amazon-Bedrock_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3566160"/>
            <a:ext cx="301752" cy="30175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83096" y="3520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Explanation Context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3867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Bedrock-ready JSON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26280" y="461772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rch_Amazon-Bedrock_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4754880"/>
            <a:ext cx="301752" cy="30175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928616" y="4709159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Assistant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5056631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suggested Q / ask mock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26679" y="777240"/>
            <a:ext cx="1828800" cy="5394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36407" y="822960"/>
            <a:ext cx="160934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Data Lake / Evidence Store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28431" y="1143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Arch_Amazon-Simple-Storage-Service_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3" y="1280160"/>
            <a:ext cx="301752" cy="3017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30767" y="1234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Amazon S3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19871" y="1581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raw / results / structures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28431" y="224028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Arch_Amazon-Simple-Storage-Service_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583" y="2377440"/>
            <a:ext cx="301752" cy="301752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430767" y="233172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S3 Handoff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19871" y="267919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docs / API contracts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28431" y="3401568"/>
            <a:ext cx="11430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83296" y="3474720"/>
            <a:ext cx="1033271" cy="58521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GitHub
final-project_data-pipline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28431" y="4617720"/>
            <a:ext cx="1143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83296" y="4690872"/>
            <a:ext cx="1033271" cy="512063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1">
                <a:solidFill>
                  <a:srgbClr val="111827"/>
                </a:solidFill>
                <a:latin typeface="Arial"/>
              </a:rPr>
              <a:t>GCS backup
future option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84080" y="777240"/>
            <a:ext cx="1965960" cy="539496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93807" y="822960"/>
            <a:ext cx="174650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Future Automation Layer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076688" y="114300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Arch_AWS-Lambda_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840" y="1280160"/>
            <a:ext cx="301752" cy="30175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0479024" y="123444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AWS Lambda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68128" y="158191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S3 event trigger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076688" y="224028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Arch_AWS-Step-Functions_6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49840" y="2377440"/>
            <a:ext cx="301752" cy="30175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0479024" y="233172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Step Functions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68128" y="267919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pipeline orchestration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076688" y="333756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Arch_Amazon-SageMaker-AI_6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9840" y="3474720"/>
            <a:ext cx="301752" cy="301752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479024" y="3429000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SageMaker AI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68128" y="377647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heavy pipeline jobs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076688" y="4434840"/>
            <a:ext cx="1143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rch_Amazon-Bedrock_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0" y="4572000"/>
            <a:ext cx="301752" cy="301752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479024" y="4526279"/>
            <a:ext cx="685800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Amazon Bedrock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68128" y="4873752"/>
            <a:ext cx="96012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690" b="0">
                <a:solidFill>
                  <a:srgbClr val="4B5563"/>
                </a:solidFill>
                <a:latin typeface="Arial"/>
              </a:rPr>
              <a:t>RAG / LLM chatbot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04672" y="1645920"/>
            <a:ext cx="365760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221992" y="1490472"/>
            <a:ext cx="2304288" cy="201168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054096" y="1444752"/>
            <a:ext cx="71323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4B5563"/>
                </a:solidFill>
                <a:latin typeface="Arial"/>
              </a:rPr>
              <a:t>API call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3529584" y="1810512"/>
            <a:ext cx="1572768" cy="429768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5074920" y="1810512"/>
            <a:ext cx="91440" cy="429768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257800" y="1810512"/>
            <a:ext cx="1307592" cy="429768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547872" y="3017520"/>
            <a:ext cx="0" cy="41148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074920" y="3017520"/>
            <a:ext cx="0" cy="41148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01968" y="3017520"/>
            <a:ext cx="0" cy="41148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7333488" y="1508760"/>
            <a:ext cx="694943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360919" y="1362456"/>
            <a:ext cx="71323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4B5563"/>
                </a:solidFill>
                <a:latin typeface="Arial"/>
              </a:rPr>
              <a:t>load</a:t>
            </a:r>
          </a:p>
        </p:txBody>
      </p:sp>
      <p:cxnSp>
        <p:nvCxnSpPr>
          <p:cNvPr id="101" name="Connector 100"/>
          <p:cNvCxnSpPr/>
          <p:nvPr/>
        </p:nvCxnSpPr>
        <p:spPr>
          <a:xfrm flipH="1">
            <a:off x="7269480" y="2606040"/>
            <a:ext cx="758951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7328916" y="2459736"/>
            <a:ext cx="71323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4B5563"/>
                </a:solidFill>
                <a:latin typeface="Arial"/>
              </a:rPr>
              <a:t>evidence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171432" y="1508760"/>
            <a:ext cx="905256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304019" y="1362456"/>
            <a:ext cx="71323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4B5563"/>
                </a:solidFill>
                <a:latin typeface="Arial"/>
              </a:rPr>
              <a:t>future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0625328" y="1920240"/>
            <a:ext cx="0" cy="32004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625328" y="3017520"/>
            <a:ext cx="0" cy="32004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625328" y="4114800"/>
            <a:ext cx="0" cy="32004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7223760" y="3858768"/>
            <a:ext cx="2816352" cy="896112"/>
          </a:xfrm>
          <a:prstGeom prst="line">
            <a:avLst/>
          </a:prstGeom>
          <a:ln w="15240">
            <a:solidFill>
              <a:srgbClr val="3741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613648" y="4114800"/>
            <a:ext cx="0" cy="502920"/>
          </a:xfrm>
          <a:prstGeom prst="line">
            <a:avLst/>
          </a:prstGeom>
          <a:ln w="15240">
            <a:solidFill>
              <a:srgbClr val="3741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221992" y="4041648"/>
            <a:ext cx="2304288" cy="850392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054096" y="4320540"/>
            <a:ext cx="713232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640" b="0">
                <a:solidFill>
                  <a:srgbClr val="4B5563"/>
                </a:solidFill>
                <a:latin typeface="Arial"/>
              </a:rPr>
              <a:t>assistant</a:t>
            </a:r>
          </a:p>
        </p:txBody>
      </p:sp>
      <p:sp>
        <p:nvSpPr>
          <p:cNvPr id="112" name="Oval 111"/>
          <p:cNvSpPr/>
          <p:nvPr/>
        </p:nvSpPr>
        <p:spPr>
          <a:xfrm>
            <a:off x="804672" y="1444752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2960" y="1476756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4" name="Oval 113"/>
          <p:cNvSpPr/>
          <p:nvPr/>
        </p:nvSpPr>
        <p:spPr>
          <a:xfrm>
            <a:off x="2487168" y="1417320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505456" y="1449324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Oval 115"/>
          <p:cNvSpPr/>
          <p:nvPr/>
        </p:nvSpPr>
        <p:spPr>
          <a:xfrm>
            <a:off x="4224528" y="1417320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42816" y="1449324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8" name="Oval 117"/>
          <p:cNvSpPr/>
          <p:nvPr/>
        </p:nvSpPr>
        <p:spPr>
          <a:xfrm>
            <a:off x="2761488" y="2505456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79776" y="2537460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0" name="Oval 119"/>
          <p:cNvSpPr/>
          <p:nvPr/>
        </p:nvSpPr>
        <p:spPr>
          <a:xfrm>
            <a:off x="4315968" y="2505456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334255" y="2537460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2" name="Oval 121"/>
          <p:cNvSpPr/>
          <p:nvPr/>
        </p:nvSpPr>
        <p:spPr>
          <a:xfrm>
            <a:off x="5870448" y="2505456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88736" y="2537460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4" name="Oval 123"/>
          <p:cNvSpPr/>
          <p:nvPr/>
        </p:nvSpPr>
        <p:spPr>
          <a:xfrm>
            <a:off x="2761488" y="3730752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779776" y="3762756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26" name="Oval 125"/>
          <p:cNvSpPr/>
          <p:nvPr/>
        </p:nvSpPr>
        <p:spPr>
          <a:xfrm>
            <a:off x="4315968" y="3730752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34255" y="3762756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28" name="Oval 127"/>
          <p:cNvSpPr/>
          <p:nvPr/>
        </p:nvSpPr>
        <p:spPr>
          <a:xfrm>
            <a:off x="7772400" y="142646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90688" y="145846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30" name="Oval 129"/>
          <p:cNvSpPr/>
          <p:nvPr/>
        </p:nvSpPr>
        <p:spPr>
          <a:xfrm>
            <a:off x="9802368" y="142646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820656" y="145846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32" name="Oval 131"/>
          <p:cNvSpPr/>
          <p:nvPr/>
        </p:nvSpPr>
        <p:spPr>
          <a:xfrm>
            <a:off x="9802368" y="252374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820656" y="255574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34" name="Oval 133"/>
          <p:cNvSpPr/>
          <p:nvPr/>
        </p:nvSpPr>
        <p:spPr>
          <a:xfrm>
            <a:off x="9802368" y="3657600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820656" y="3689604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20040" y="6327648"/>
            <a:ext cx="621792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검은 실선: 현재 연결 완료 / 점선: 향후 자동화·Bedrock·GCS 확장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92240" y="6327648"/>
            <a:ext cx="512064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rial"/>
              </a:rPr>
              <a:t>No TxGNN runtime: 비용/매칭 이슈로 제외, Neo4j path scoring + KG embedding + RAG 설명 중심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5029200" cy="29260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Arial"/>
              </a:rPr>
              <a:t>Backend-to-Frontend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6400800" cy="2011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Arial"/>
              </a:rPr>
              <a:t>프론트 QA 기준으로 실제 연결된 API와 향후 Bedrock/RAG 진입점을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417320" cy="44348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188720"/>
            <a:ext cx="119786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1. Data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691640"/>
            <a:ext cx="10789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_Amazon-Simple-Storage-Service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828800"/>
            <a:ext cx="301752" cy="301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9848" y="1783080"/>
            <a:ext cx="621792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788920"/>
            <a:ext cx="1115568" cy="12344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rial"/>
              </a:rPr>
              <a:t>S3 + local CSV
11 diseases
candidate/final split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90118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93318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143000"/>
            <a:ext cx="1417320" cy="4434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1188720"/>
            <a:ext cx="119786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2.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1691640"/>
            <a:ext cx="10789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rch_Amazon-RDS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828800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90088" y="1783080"/>
            <a:ext cx="621792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2788920"/>
            <a:ext cx="1115568" cy="12344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rial"/>
              </a:rPr>
              <a:t>PostgreSQL
Neo4j KG
OpenSearch</a:t>
            </a:r>
          </a:p>
        </p:txBody>
      </p:sp>
      <p:sp>
        <p:nvSpPr>
          <p:cNvPr id="18" name="Oval 17"/>
          <p:cNvSpPr/>
          <p:nvPr/>
        </p:nvSpPr>
        <p:spPr>
          <a:xfrm>
            <a:off x="2971800" y="490118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0088" y="493318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880360"/>
            <a:ext cx="502920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1143000"/>
            <a:ext cx="141732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1188720"/>
            <a:ext cx="119786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3. API 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1691640"/>
            <a:ext cx="10789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rch_Amazon-API-Gateway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828800"/>
            <a:ext cx="301752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10328" y="1783080"/>
            <a:ext cx="621792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API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2788920"/>
            <a:ext cx="1115568" cy="12344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rial"/>
              </a:rPr>
              <a:t>FastAPI
Candidates / Graph
Structures / Search</a:t>
            </a:r>
          </a:p>
        </p:txBody>
      </p:sp>
      <p:sp>
        <p:nvSpPr>
          <p:cNvPr id="27" name="Oval 26"/>
          <p:cNvSpPr/>
          <p:nvPr/>
        </p:nvSpPr>
        <p:spPr>
          <a:xfrm>
            <a:off x="4892040" y="490118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0327" y="493318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40480" y="2880360"/>
            <a:ext cx="502920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63640" y="1143000"/>
            <a:ext cx="1417320" cy="4434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1188720"/>
            <a:ext cx="119786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4. Frontend QA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8231" y="1691640"/>
            <a:ext cx="10789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rch_Amazon-CloudWatch_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3" y="1828800"/>
            <a:ext cx="301752" cy="3017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30568" y="1783080"/>
            <a:ext cx="621792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Frontend 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2788920"/>
            <a:ext cx="1115568" cy="12344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rial"/>
              </a:rPr>
              <a:t>React 5174
Candidates 15 vs 60
KG + AlphaFold</a:t>
            </a:r>
          </a:p>
        </p:txBody>
      </p:sp>
      <p:sp>
        <p:nvSpPr>
          <p:cNvPr id="36" name="Oval 35"/>
          <p:cNvSpPr/>
          <p:nvPr/>
        </p:nvSpPr>
        <p:spPr>
          <a:xfrm>
            <a:off x="6812279" y="490118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0567" y="493318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60720" y="2880360"/>
            <a:ext cx="502920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83879" y="1143000"/>
            <a:ext cx="1417320" cy="443484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7" y="1188720"/>
            <a:ext cx="119786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5. Explanation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48471" y="1691640"/>
            <a:ext cx="10789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rch_Amazon-Bedrock_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1828800"/>
            <a:ext cx="301752" cy="30175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750807" y="1783080"/>
            <a:ext cx="621792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Explanation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3" y="2788920"/>
            <a:ext cx="1115568" cy="12344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rial"/>
              </a:rPr>
              <a:t>Explanation context
Assistant API mock
Bedrock-ready</a:t>
            </a:r>
          </a:p>
        </p:txBody>
      </p:sp>
      <p:sp>
        <p:nvSpPr>
          <p:cNvPr id="45" name="Oval 44"/>
          <p:cNvSpPr/>
          <p:nvPr/>
        </p:nvSpPr>
        <p:spPr>
          <a:xfrm>
            <a:off x="8732519" y="490118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50807" y="493318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80960" y="2880360"/>
            <a:ext cx="502919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104120" y="1143000"/>
            <a:ext cx="1417320" cy="4434840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13848" y="1188720"/>
            <a:ext cx="1197864" cy="256032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6. Automation Later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68712" y="1691640"/>
            <a:ext cx="107899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rch_AWS-Step-Functions_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864" y="1828800"/>
            <a:ext cx="301752" cy="30175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671048" y="1783080"/>
            <a:ext cx="621792" cy="31089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830" b="1">
                <a:solidFill>
                  <a:srgbClr val="111827"/>
                </a:solidFill>
                <a:latin typeface="Arial"/>
              </a:rPr>
              <a:t>Automation Later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50424" y="2788920"/>
            <a:ext cx="1115568" cy="123444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  <a:latin typeface="Arial"/>
              </a:rPr>
              <a:t>Lambda
Step Functions
SageMaker jobs</a:t>
            </a:r>
          </a:p>
        </p:txBody>
      </p:sp>
      <p:sp>
        <p:nvSpPr>
          <p:cNvPr id="54" name="Oval 53"/>
          <p:cNvSpPr/>
          <p:nvPr/>
        </p:nvSpPr>
        <p:spPr>
          <a:xfrm>
            <a:off x="10652760" y="4901184"/>
            <a:ext cx="274320" cy="274320"/>
          </a:xfrm>
          <a:prstGeom prst="ellipse">
            <a:avLst/>
          </a:prstGeom>
          <a:solidFill>
            <a:srgbClr val="FF9900"/>
          </a:solidFill>
          <a:ln w="63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71048" y="4933188"/>
            <a:ext cx="237744" cy="182880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601200" y="2880360"/>
            <a:ext cx="502920" cy="0"/>
          </a:xfrm>
          <a:prstGeom prst="line">
            <a:avLst/>
          </a:prstGeom>
          <a:ln w="1524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5806440"/>
            <a:ext cx="201168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프론트 전달 핵심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0" y="5623560"/>
            <a:ext cx="3886200" cy="658368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l"/>
            <a:r>
              <a:rPr sz="710" b="0">
                <a:solidFill>
                  <a:srgbClr val="4B5563"/>
                </a:solidFill>
                <a:latin typeface="Arial"/>
              </a:rPr>
              <a:t>/v1/diseases/{code}/final-candidates
/api/diseases/{code}/candidates
/api/graph/{code}/ui-basic
/api/structures/targets?q=JAK
/api/explanation-context
/api/assistant/{code}/ask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5806440"/>
            <a:ext cx="5029200" cy="219456"/>
          </a:xfrm>
          <a:prstGeom prst="rect">
            <a:avLst/>
          </a:prstGeom>
          <a:noFill/>
        </p:spPr>
        <p:txBody>
          <a:bodyPr wrap="none" lIns="36576" rIns="36576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Arial"/>
              </a:rPr>
              <a:t>산출물: PPTX는 발표/수정용, SVG는 문서/README 삽입용, draw.io는 보조 편집용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